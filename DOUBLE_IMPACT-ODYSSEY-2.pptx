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4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0C7"/>
    <a:srgbClr val="FF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31304D-F49D-B1B6-7BA2-64603AF689C2}" v="591" dt="2026-02-02T17:45:32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0997EA-9D00-17F0-0963-3DA9827EA75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223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- General Use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A2C27-2061-B3DB-16F0-C61B1421FEDB}"/>
              </a:ext>
            </a:extLst>
          </p:cNvPr>
          <p:cNvSpPr txBox="1"/>
          <p:nvPr/>
        </p:nvSpPr>
        <p:spPr>
          <a:xfrm>
            <a:off x="1669765" y="2586869"/>
            <a:ext cx="916819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D700"/>
                </a:solidFill>
              </a:rPr>
              <a:t>ODYSSEY </a:t>
            </a:r>
            <a:r>
              <a:rPr lang="en-US" sz="2400" b="1" dirty="0">
                <a:solidFill>
                  <a:srgbClr val="4650C7"/>
                </a:solidFill>
              </a:rPr>
              <a:t>– THE DATA EXPLORER</a:t>
            </a:r>
            <a:endParaRPr lang="en-US" sz="2400">
              <a:solidFill>
                <a:srgbClr val="4650C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6DDB04-B2E3-CAB7-6032-D842508517DE}"/>
              </a:ext>
            </a:extLst>
          </p:cNvPr>
          <p:cNvSpPr txBox="1"/>
          <p:nvPr/>
        </p:nvSpPr>
        <p:spPr>
          <a:xfrm>
            <a:off x="4068626" y="3426687"/>
            <a:ext cx="40575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4650C7"/>
                </a:solidFill>
              </a:rPr>
              <a:t>AI/BI Agent </a:t>
            </a:r>
            <a:endParaRPr lang="en-US">
              <a:solidFill>
                <a:srgbClr val="4650C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C0F993-F512-383D-1AD4-9E47AA6109A7}"/>
              </a:ext>
            </a:extLst>
          </p:cNvPr>
          <p:cNvSpPr txBox="1"/>
          <p:nvPr/>
        </p:nvSpPr>
        <p:spPr>
          <a:xfrm>
            <a:off x="689428" y="4918494"/>
            <a:ext cx="1112761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chemeClr val="accent4">
                    <a:lumMod val="49000"/>
                  </a:schemeClr>
                </a:solidFill>
              </a:rPr>
              <a:t> </a:t>
            </a:r>
            <a:r>
              <a:rPr lang="en-US" b="1" dirty="0">
                <a:solidFill>
                  <a:schemeClr val="accent2">
                    <a:lumMod val="76000"/>
                  </a:schemeClr>
                </a:solidFill>
              </a:rPr>
              <a:t>WIPRO DATABRICKS HACKATHON 2026</a:t>
            </a:r>
          </a:p>
          <a:p>
            <a:pPr algn="ctr"/>
            <a:r>
              <a:rPr lang="en-US" dirty="0">
                <a:solidFill>
                  <a:srgbClr val="4650C7"/>
                </a:solidFill>
              </a:rPr>
              <a:t>TEAM:</a:t>
            </a:r>
            <a:r>
              <a:rPr lang="en-US" dirty="0"/>
              <a:t> </a:t>
            </a:r>
            <a:r>
              <a:rPr lang="en-US" dirty="0">
                <a:solidFill>
                  <a:srgbClr val="FFD700"/>
                </a:solidFill>
              </a:rPr>
              <a:t>DOUBLE IMPACT</a:t>
            </a:r>
          </a:p>
          <a:p>
            <a:pPr algn="ctr"/>
            <a:r>
              <a:rPr lang="en-US" dirty="0">
                <a:solidFill>
                  <a:srgbClr val="4650C7"/>
                </a:solidFill>
              </a:rPr>
              <a:t>THEME:</a:t>
            </a:r>
            <a:r>
              <a:rPr lang="en-US" dirty="0"/>
              <a:t> </a:t>
            </a:r>
            <a:r>
              <a:rPr lang="en-US" dirty="0">
                <a:solidFill>
                  <a:srgbClr val="FFD700"/>
                </a:solidFill>
              </a:rPr>
              <a:t>AI/BI Agent</a:t>
            </a:r>
          </a:p>
          <a:p>
            <a:pPr algn="ctr"/>
            <a:r>
              <a:rPr lang="en-US" dirty="0">
                <a:solidFill>
                  <a:srgbClr val="4650C7"/>
                </a:solidFill>
              </a:rPr>
              <a:t>TEAM MEMBERS:</a:t>
            </a:r>
            <a:r>
              <a:rPr lang="en-US" dirty="0"/>
              <a:t> </a:t>
            </a:r>
            <a:r>
              <a:rPr lang="en-US" err="1">
                <a:solidFill>
                  <a:srgbClr val="FFD700"/>
                </a:solidFill>
              </a:rPr>
              <a:t>Kondala</a:t>
            </a:r>
            <a:r>
              <a:rPr lang="en-US" dirty="0">
                <a:solidFill>
                  <a:srgbClr val="FFD700"/>
                </a:solidFill>
              </a:rPr>
              <a:t> Sravani, Dilip A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0FD44-F8FC-EB49-6987-05C5F37B0233}"/>
              </a:ext>
            </a:extLst>
          </p:cNvPr>
          <p:cNvSpPr txBox="1"/>
          <p:nvPr/>
        </p:nvSpPr>
        <p:spPr>
          <a:xfrm>
            <a:off x="226259" y="117324"/>
            <a:ext cx="232601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ODYSSEY </a:t>
            </a:r>
            <a:r>
              <a:rPr lang="en-US" sz="1200" b="1" dirty="0">
                <a:solidFill>
                  <a:schemeClr val="bg1">
                    <a:lumMod val="76000"/>
                  </a:schemeClr>
                </a:solidFill>
              </a:rPr>
              <a:t>– The Data Explorer</a:t>
            </a:r>
          </a:p>
        </p:txBody>
      </p:sp>
    </p:spTree>
    <p:extLst>
      <p:ext uri="{BB962C8B-B14F-4D97-AF65-F5344CB8AC3E}">
        <p14:creationId xmlns:p14="http://schemas.microsoft.com/office/powerpoint/2010/main" val="366865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27135-A380-5A2E-58C8-49FFE1C4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A9A21A-512A-D4AE-C306-C6EE43112D19}"/>
              </a:ext>
            </a:extLst>
          </p:cNvPr>
          <p:cNvSpPr txBox="1"/>
          <p:nvPr/>
        </p:nvSpPr>
        <p:spPr>
          <a:xfrm>
            <a:off x="2090229" y="392818"/>
            <a:ext cx="80175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4650C7"/>
                </a:solidFill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E4715B-E3DF-D383-65F1-9DFFE17EE4DD}"/>
              </a:ext>
            </a:extLst>
          </p:cNvPr>
          <p:cNvSpPr txBox="1"/>
          <p:nvPr/>
        </p:nvSpPr>
        <p:spPr>
          <a:xfrm>
            <a:off x="787944" y="1300218"/>
            <a:ext cx="1060285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b="1" dirty="0">
                <a:latin typeface="Tenorite"/>
              </a:rPr>
              <a:t>To build a "Talk to your Data" application using the AI/BI Genie and Databricks Dashboards. </a:t>
            </a:r>
            <a:br>
              <a:rPr lang="en-IN" b="1" dirty="0">
                <a:latin typeface="Tenorite"/>
              </a:rPr>
            </a:br>
            <a:r>
              <a:rPr lang="en-IN" b="1" dirty="0">
                <a:latin typeface="Tenorite"/>
              </a:rPr>
              <a:t>This agent should allow business users to ask ad-hoc, natural language questions about key performance indicators (KPIs) and receive dynamic, context-aware insights, moving beyond static reports.</a:t>
            </a:r>
            <a:endParaRPr lang="en-IN" sz="1100">
              <a:latin typeface="Tenorit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6D135-5E62-FBE4-8D16-46F533BB3D39}"/>
              </a:ext>
            </a:extLst>
          </p:cNvPr>
          <p:cNvSpPr txBox="1"/>
          <p:nvPr/>
        </p:nvSpPr>
        <p:spPr>
          <a:xfrm>
            <a:off x="226259" y="117324"/>
            <a:ext cx="232601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ODYSSEY </a:t>
            </a:r>
            <a:r>
              <a:rPr lang="en-US" sz="1200" b="1" dirty="0">
                <a:solidFill>
                  <a:schemeClr val="bg1">
                    <a:lumMod val="76000"/>
                  </a:schemeClr>
                </a:solidFill>
              </a:rPr>
              <a:t>– The Data Explorer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B6ED51-FAD4-3027-D808-E960FB31083E}"/>
              </a:ext>
            </a:extLst>
          </p:cNvPr>
          <p:cNvSpPr txBox="1"/>
          <p:nvPr/>
        </p:nvSpPr>
        <p:spPr>
          <a:xfrm>
            <a:off x="5346588" y="3060521"/>
            <a:ext cx="15047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IN" b="1" dirty="0">
                <a:solidFill>
                  <a:srgbClr val="4650C7"/>
                </a:solidFill>
                <a:latin typeface="Tenorite"/>
              </a:rPr>
              <a:t>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A9169A-9A07-AD5E-EF67-8AE90E25CBEA}"/>
              </a:ext>
            </a:extLst>
          </p:cNvPr>
          <p:cNvSpPr txBox="1"/>
          <p:nvPr/>
        </p:nvSpPr>
        <p:spPr>
          <a:xfrm>
            <a:off x="799666" y="4014110"/>
            <a:ext cx="1040942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dirty="0">
                <a:latin typeface="Tenorite"/>
              </a:rPr>
              <a:t>To enable users to ask natural language questions and convert them into SQL queries on Delta tables.</a:t>
            </a:r>
            <a:endParaRPr lang="en-IN" b="1">
              <a:latin typeface="Tenorite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enorite"/>
              </a:rPr>
              <a:t>To enable users, interact with dashboards using chat commands</a:t>
            </a:r>
          </a:p>
          <a:p>
            <a:pPr marL="285750" indent="-285750" algn="just">
              <a:buFont typeface="Arial"/>
              <a:buChar char="•"/>
            </a:pPr>
            <a:r>
              <a:rPr lang="en-IN" dirty="0">
                <a:latin typeface="Tenorite"/>
              </a:rPr>
              <a:t>To generate narrative summaries of KPIs</a:t>
            </a:r>
          </a:p>
          <a:p>
            <a:pPr marL="285750" indent="-285750" algn="just">
              <a:buFont typeface="Arial"/>
              <a:buChar char="•"/>
            </a:pPr>
            <a:r>
              <a:rPr lang="en-IN" dirty="0">
                <a:latin typeface="Tenorite"/>
              </a:rPr>
              <a:t>To generate predictive responses Predictive/what-if analysis</a:t>
            </a:r>
            <a:endParaRPr lang="en-IN"/>
          </a:p>
          <a:p>
            <a:pPr marL="285750" indent="-285750" algn="just">
              <a:buFont typeface="Arial"/>
              <a:buChar char="•"/>
            </a:pPr>
            <a:r>
              <a:rPr lang="en-IN" dirty="0">
                <a:latin typeface="Tenorite"/>
              </a:rPr>
              <a:t>To Implement validation while answering BI queries, LLM enforcing governance</a:t>
            </a:r>
          </a:p>
        </p:txBody>
      </p:sp>
    </p:spTree>
    <p:extLst>
      <p:ext uri="{BB962C8B-B14F-4D97-AF65-F5344CB8AC3E}">
        <p14:creationId xmlns:p14="http://schemas.microsoft.com/office/powerpoint/2010/main" val="1738361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F3F901-10BE-85AA-5034-874E8E8A93CA}"/>
              </a:ext>
            </a:extLst>
          </p:cNvPr>
          <p:cNvSpPr txBox="1"/>
          <p:nvPr/>
        </p:nvSpPr>
        <p:spPr>
          <a:xfrm>
            <a:off x="2090229" y="486603"/>
            <a:ext cx="80175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4650C7"/>
                </a:solidFill>
              </a:rPr>
              <a:t>PROPOSED SOLUTION - ODYSSEY</a:t>
            </a:r>
          </a:p>
        </p:txBody>
      </p:sp>
      <p:pic>
        <p:nvPicPr>
          <p:cNvPr id="7" name="Picture 6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A6B8C196-1FA5-D029-4329-F6599C377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926" y="996880"/>
            <a:ext cx="9040068" cy="5137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50959-DB46-F5BF-07F4-FDC80FC778DE}"/>
              </a:ext>
            </a:extLst>
          </p:cNvPr>
          <p:cNvSpPr txBox="1"/>
          <p:nvPr/>
        </p:nvSpPr>
        <p:spPr>
          <a:xfrm>
            <a:off x="226259" y="117324"/>
            <a:ext cx="232601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ODYSSEY </a:t>
            </a:r>
            <a:r>
              <a:rPr lang="en-US" sz="1200" b="1" dirty="0">
                <a:solidFill>
                  <a:schemeClr val="bg1">
                    <a:lumMod val="76000"/>
                  </a:schemeClr>
                </a:solidFill>
              </a:rPr>
              <a:t>– The Data Explorer</a:t>
            </a:r>
          </a:p>
        </p:txBody>
      </p:sp>
    </p:spTree>
    <p:extLst>
      <p:ext uri="{BB962C8B-B14F-4D97-AF65-F5344CB8AC3E}">
        <p14:creationId xmlns:p14="http://schemas.microsoft.com/office/powerpoint/2010/main" val="3445516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A3B59B-1E10-AF2D-04BA-07EFD0D11F6B}"/>
              </a:ext>
            </a:extLst>
          </p:cNvPr>
          <p:cNvSpPr txBox="1"/>
          <p:nvPr/>
        </p:nvSpPr>
        <p:spPr>
          <a:xfrm>
            <a:off x="2090229" y="486603"/>
            <a:ext cx="80175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4650C7"/>
                </a:solidFill>
              </a:rPr>
              <a:t>TECH STACK &amp;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D8759E-792F-57AF-C380-AF796FCC2268}"/>
              </a:ext>
            </a:extLst>
          </p:cNvPr>
          <p:cNvSpPr txBox="1"/>
          <p:nvPr/>
        </p:nvSpPr>
        <p:spPr>
          <a:xfrm>
            <a:off x="805528" y="1107634"/>
            <a:ext cx="1058526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b="1" dirty="0">
                <a:highlight>
                  <a:srgbClr val="FFFFFF"/>
                </a:highlight>
                <a:latin typeface="Tenorite"/>
              </a:rPr>
              <a:t>Data Type: Apple Retail and sales data – 1M+ Rows</a:t>
            </a:r>
          </a:p>
          <a:p>
            <a:pPr marL="285750" indent="-285750">
              <a:buFont typeface="Arial"/>
              <a:buChar char="•"/>
            </a:pPr>
            <a:r>
              <a:rPr lang="en-IN" b="1" dirty="0">
                <a:highlight>
                  <a:srgbClr val="FFFFFF"/>
                </a:highlight>
                <a:latin typeface="Tenorite"/>
              </a:rPr>
              <a:t>Data Modelling: Snowflake Schema</a:t>
            </a:r>
          </a:p>
          <a:p>
            <a:pPr marL="285750" indent="-285750">
              <a:buFont typeface="Arial"/>
              <a:buChar char="•"/>
            </a:pPr>
            <a:r>
              <a:rPr lang="en-IN" b="1" dirty="0">
                <a:highlight>
                  <a:srgbClr val="FFFFFF"/>
                </a:highlight>
                <a:latin typeface="Tenorite"/>
              </a:rPr>
              <a:t>Tools, Languages, Framework: Databricks Genie, Databricks Dashboards, Delta Table, SQL, Unity </a:t>
            </a:r>
            <a:r>
              <a:rPr lang="en-IN" b="1" dirty="0" err="1">
                <a:highlight>
                  <a:srgbClr val="FFFFFF"/>
                </a:highlight>
                <a:latin typeface="Tenorite"/>
              </a:rPr>
              <a:t>Catalog</a:t>
            </a:r>
            <a:r>
              <a:rPr lang="en-IN" b="1" dirty="0">
                <a:highlight>
                  <a:srgbClr val="FFFFFF"/>
                </a:highlight>
                <a:latin typeface="Tenorite"/>
              </a:rPr>
              <a:t>, Perplexity, Draw.io</a:t>
            </a:r>
          </a:p>
        </p:txBody>
      </p:sp>
      <p:pic>
        <p:nvPicPr>
          <p:cNvPr id="2" name="Picture 1" descr="A screenshot of a diagram&#10;&#10;AI-generated content may be incorrect.">
            <a:extLst>
              <a:ext uri="{FF2B5EF4-FFF2-40B4-BE49-F238E27FC236}">
                <a16:creationId xmlns:a16="http://schemas.microsoft.com/office/drawing/2014/main" id="{88086266-34AD-E0AA-3966-D8AE3E0BB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665" y="2305986"/>
            <a:ext cx="5779318" cy="41013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5D2254-E85C-C426-1272-14310D4249AB}"/>
              </a:ext>
            </a:extLst>
          </p:cNvPr>
          <p:cNvSpPr txBox="1"/>
          <p:nvPr/>
        </p:nvSpPr>
        <p:spPr>
          <a:xfrm>
            <a:off x="226259" y="117324"/>
            <a:ext cx="232601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ODYSSEY </a:t>
            </a:r>
            <a:r>
              <a:rPr lang="en-US" sz="1200" b="1" dirty="0">
                <a:solidFill>
                  <a:schemeClr val="bg1">
                    <a:lumMod val="76000"/>
                  </a:schemeClr>
                </a:solidFill>
              </a:rPr>
              <a:t>– The Data Explorer</a:t>
            </a:r>
          </a:p>
        </p:txBody>
      </p:sp>
    </p:spTree>
    <p:extLst>
      <p:ext uri="{BB962C8B-B14F-4D97-AF65-F5344CB8AC3E}">
        <p14:creationId xmlns:p14="http://schemas.microsoft.com/office/powerpoint/2010/main" val="4094932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EA5F2-E00F-EE32-5723-E9271A9C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AB21DE-CCAE-875C-657E-9A3D87FFDE03}"/>
              </a:ext>
            </a:extLst>
          </p:cNvPr>
          <p:cNvSpPr txBox="1"/>
          <p:nvPr/>
        </p:nvSpPr>
        <p:spPr>
          <a:xfrm>
            <a:off x="2090229" y="754333"/>
            <a:ext cx="80175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4650C7"/>
                </a:solidFill>
              </a:rPr>
              <a:t>KEY FEATURES &amp; DEMO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20A63-3530-CD2F-79BC-A6B4AC8F0FD1}"/>
              </a:ext>
            </a:extLst>
          </p:cNvPr>
          <p:cNvSpPr txBox="1"/>
          <p:nvPr/>
        </p:nvSpPr>
        <p:spPr>
          <a:xfrm>
            <a:off x="805528" y="1498931"/>
            <a:ext cx="10585268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ighlight>
                  <a:srgbClr val="FFFFFF"/>
                </a:highlight>
                <a:latin typeface="Tenorite"/>
              </a:rPr>
              <a:t>ODYSSEY is an interactive Dashboard which allows the user to know Executive Summary as well as In detail performances. Additionally, an agent to interact with dashboards using chat commands</a:t>
            </a:r>
            <a:br>
              <a:rPr lang="en-US" dirty="0">
                <a:highlight>
                  <a:srgbClr val="FFFFFF"/>
                </a:highlight>
                <a:latin typeface="Tenorite"/>
              </a:rPr>
            </a:br>
            <a:br>
              <a:rPr lang="en-IN" b="1" dirty="0">
                <a:highlight>
                  <a:srgbClr val="FFFFFF"/>
                </a:highlight>
                <a:latin typeface="Tenorite"/>
              </a:rPr>
            </a:br>
            <a:r>
              <a:rPr lang="en-IN" b="1" dirty="0">
                <a:highlight>
                  <a:srgbClr val="FFFFFF"/>
                </a:highlight>
                <a:latin typeface="Tenorite"/>
              </a:rPr>
              <a:t>ODYSSEY is an AI/BI agent which </a:t>
            </a:r>
            <a:r>
              <a:rPr lang="en-IN" dirty="0">
                <a:highlight>
                  <a:srgbClr val="FFFFFF"/>
                </a:highlight>
                <a:latin typeface="Tenorite"/>
              </a:rPr>
              <a:t>users to ask natural language questions and convert them into SQL queries on Delta tables.</a:t>
            </a:r>
            <a:endParaRPr lang="en-US" dirty="0"/>
          </a:p>
          <a:p>
            <a:endParaRPr lang="en-IN" dirty="0">
              <a:highlight>
                <a:srgbClr val="FFFFFF"/>
              </a:highlight>
              <a:latin typeface="Tenorite"/>
            </a:endParaRPr>
          </a:p>
          <a:p>
            <a:r>
              <a:rPr lang="en-IN" dirty="0">
                <a:highlight>
                  <a:srgbClr val="FFFFFF"/>
                </a:highlight>
                <a:latin typeface="Tenorite"/>
              </a:rPr>
              <a:t>ODYSSSEY generates narrative summaries, KPIs and in detail performance metrics using the Data provided in real time. </a:t>
            </a:r>
            <a:endParaRPr lang="en-IN" dirty="0"/>
          </a:p>
          <a:p>
            <a:endParaRPr lang="en-IN" dirty="0">
              <a:highlight>
                <a:srgbClr val="FFFFFF"/>
              </a:highlight>
              <a:latin typeface="Tenorite"/>
            </a:endParaRPr>
          </a:p>
          <a:p>
            <a:r>
              <a:rPr lang="en-IN" dirty="0">
                <a:highlight>
                  <a:srgbClr val="FFFFFF"/>
                </a:highlight>
                <a:latin typeface="Tenorite"/>
              </a:rPr>
              <a:t>ODYSSEY ensures validation while answering BI queries and uses LLM intelligence in enforcing governance. As a result of which the PII data secured and not compromised. </a:t>
            </a:r>
          </a:p>
          <a:p>
            <a:endParaRPr lang="en-IN" dirty="0">
              <a:highlight>
                <a:srgbClr val="FFFFFF"/>
              </a:highlight>
              <a:latin typeface="Tenorite"/>
            </a:endParaRPr>
          </a:p>
          <a:p>
            <a:r>
              <a:rPr lang="en-IN" dirty="0">
                <a:highlight>
                  <a:srgbClr val="FFFFFF"/>
                </a:highlight>
                <a:latin typeface="Tenorite"/>
              </a:rPr>
              <a:t>ODYSSEY generates Predictive/what-if analysis responses learning the curves in data and provides real time responses. </a:t>
            </a:r>
            <a:br>
              <a:rPr lang="en-IN" b="1" dirty="0">
                <a:highlight>
                  <a:srgbClr val="FFFFFF"/>
                </a:highlight>
                <a:latin typeface="Tenorite"/>
              </a:rPr>
            </a:br>
            <a:endParaRPr lang="en-IN" b="1" dirty="0">
              <a:highlight>
                <a:srgbClr val="FFFFFF"/>
              </a:highlight>
              <a:latin typeface="Tenorit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CF29D6-FAEC-B860-37E4-650E11848FF6}"/>
              </a:ext>
            </a:extLst>
          </p:cNvPr>
          <p:cNvSpPr txBox="1"/>
          <p:nvPr/>
        </p:nvSpPr>
        <p:spPr>
          <a:xfrm>
            <a:off x="226259" y="117324"/>
            <a:ext cx="232601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ODYSSEY </a:t>
            </a:r>
            <a:r>
              <a:rPr lang="en-US" sz="1200" b="1" dirty="0">
                <a:solidFill>
                  <a:schemeClr val="bg1">
                    <a:lumMod val="76000"/>
                  </a:schemeClr>
                </a:solidFill>
              </a:rPr>
              <a:t>– The Data Explorer</a:t>
            </a:r>
          </a:p>
        </p:txBody>
      </p:sp>
    </p:spTree>
    <p:extLst>
      <p:ext uri="{BB962C8B-B14F-4D97-AF65-F5344CB8AC3E}">
        <p14:creationId xmlns:p14="http://schemas.microsoft.com/office/powerpoint/2010/main" val="170648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A7218-4B4E-C42D-A3DD-C67B86D2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7B2C95-0B77-30C6-5264-9B5F9F66722A}"/>
              </a:ext>
            </a:extLst>
          </p:cNvPr>
          <p:cNvSpPr txBox="1"/>
          <p:nvPr/>
        </p:nvSpPr>
        <p:spPr>
          <a:xfrm>
            <a:off x="2090229" y="754333"/>
            <a:ext cx="80175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4650C7"/>
                </a:solidFill>
              </a:rPr>
              <a:t>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9D5A98-788A-4EF1-2A21-F1A0B6251D14}"/>
              </a:ext>
            </a:extLst>
          </p:cNvPr>
          <p:cNvSpPr txBox="1"/>
          <p:nvPr/>
        </p:nvSpPr>
        <p:spPr>
          <a:xfrm>
            <a:off x="805528" y="1123793"/>
            <a:ext cx="1058526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highlight>
                  <a:srgbClr val="FFFFFF"/>
                </a:highlight>
                <a:latin typeface="Tenorite"/>
              </a:rPr>
              <a:t>Boosts Decision Making Speed – Users get insights faster using natural language.</a:t>
            </a:r>
            <a:br>
              <a:rPr lang="en-IN" b="1" dirty="0">
                <a:highlight>
                  <a:srgbClr val="FFFFFF"/>
                </a:highlight>
                <a:latin typeface="Tenorite"/>
              </a:rPr>
            </a:br>
            <a:r>
              <a:rPr lang="en-IN" b="1" dirty="0">
                <a:highlight>
                  <a:srgbClr val="FFFFFF"/>
                </a:highlight>
                <a:latin typeface="Tenorite"/>
              </a:rPr>
              <a:t>Data Security – PII Data protection while analysis.</a:t>
            </a:r>
            <a:br>
              <a:rPr lang="en-IN" b="1" dirty="0">
                <a:highlight>
                  <a:srgbClr val="FFFFFF"/>
                </a:highlight>
                <a:latin typeface="Tenorite"/>
              </a:rPr>
            </a:br>
            <a:r>
              <a:rPr lang="en-IN" b="1" dirty="0">
                <a:highlight>
                  <a:srgbClr val="FFFFFF"/>
                </a:highlight>
                <a:latin typeface="Tenorite"/>
              </a:rPr>
              <a:t>Drives Business values – Predictive and What if analysis for forecast outcomes. </a:t>
            </a:r>
            <a:br>
              <a:rPr lang="en-IN" b="1" dirty="0">
                <a:highlight>
                  <a:srgbClr val="FFFFFF"/>
                </a:highlight>
                <a:latin typeface="Tenorite"/>
              </a:rPr>
            </a:br>
            <a:r>
              <a:rPr lang="en-IN" b="1" dirty="0">
                <a:highlight>
                  <a:srgbClr val="FFFFFF"/>
                </a:highlight>
                <a:latin typeface="Tenorite"/>
              </a:rPr>
              <a:t>Improves </a:t>
            </a:r>
            <a:r>
              <a:rPr lang="en-IN" b="1" dirty="0" err="1">
                <a:highlight>
                  <a:srgbClr val="FFFFFF"/>
                </a:highlight>
                <a:latin typeface="Tenorite"/>
              </a:rPr>
              <a:t>accessiblity</a:t>
            </a:r>
            <a:r>
              <a:rPr lang="en-IN" b="1" dirty="0">
                <a:highlight>
                  <a:srgbClr val="FFFFFF"/>
                </a:highlight>
                <a:latin typeface="Tenorite"/>
              </a:rPr>
              <a:t> – Non Tech users can get insights with knowing SQL </a:t>
            </a:r>
          </a:p>
          <a:p>
            <a:r>
              <a:rPr lang="en-IN" b="1" dirty="0">
                <a:highlight>
                  <a:srgbClr val="FFFFFF"/>
                </a:highlight>
                <a:latin typeface="Tenorite"/>
              </a:rPr>
              <a:t>Scales easily – Handles 1M+ rows with near real time responses. </a:t>
            </a:r>
            <a:br>
              <a:rPr lang="en-IN" b="1" dirty="0">
                <a:highlight>
                  <a:srgbClr val="FFFFFF"/>
                </a:highlight>
                <a:latin typeface="Tenorite"/>
              </a:rPr>
            </a:br>
            <a:r>
              <a:rPr lang="en-IN" b="1">
                <a:highlight>
                  <a:srgbClr val="FFFFFF"/>
                </a:highlight>
                <a:latin typeface="Tenorite"/>
              </a:rPr>
              <a:t>Increases Productivity – Less Time spent on querying manually</a:t>
            </a:r>
            <a:endParaRPr lang="en-IN" b="1" dirty="0">
              <a:highlight>
                <a:srgbClr val="FFFFFF"/>
              </a:highlight>
              <a:latin typeface="Tenorite"/>
            </a:endParaRPr>
          </a:p>
          <a:p>
            <a:endParaRPr lang="en-IN" b="1" dirty="0">
              <a:highlight>
                <a:srgbClr val="FFFFFF"/>
              </a:highlight>
              <a:latin typeface="Tenorite"/>
            </a:endParaRPr>
          </a:p>
          <a:p>
            <a:br>
              <a:rPr lang="en-IN" b="1" dirty="0">
                <a:highlight>
                  <a:srgbClr val="FFFFFF"/>
                </a:highlight>
                <a:latin typeface="Tenorite"/>
              </a:rPr>
            </a:br>
            <a:endParaRPr lang="en-IN" b="1">
              <a:highlight>
                <a:srgbClr val="FFFFFF"/>
              </a:highlight>
              <a:latin typeface="Tenorit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554440-71EB-610C-5E44-BB7078176160}"/>
              </a:ext>
            </a:extLst>
          </p:cNvPr>
          <p:cNvSpPr txBox="1"/>
          <p:nvPr/>
        </p:nvSpPr>
        <p:spPr>
          <a:xfrm>
            <a:off x="2090228" y="4118856"/>
            <a:ext cx="80175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solidFill>
                  <a:srgbClr val="4650C7"/>
                </a:solidFill>
              </a:rPr>
              <a:t>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1F0EF4-2E23-0DB8-93A6-588E7256BD23}"/>
              </a:ext>
            </a:extLst>
          </p:cNvPr>
          <p:cNvSpPr txBox="1"/>
          <p:nvPr/>
        </p:nvSpPr>
        <p:spPr>
          <a:xfrm>
            <a:off x="805527" y="4693469"/>
            <a:ext cx="1058526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highlight>
                  <a:srgbClr val="FFFFFF"/>
                </a:highlight>
                <a:latin typeface="Tenorite"/>
              </a:rPr>
              <a:t>Feedback Loop – We can improve the AI agent accuracy with user feedback</a:t>
            </a:r>
            <a:br>
              <a:rPr lang="en-IN" b="1" dirty="0">
                <a:highlight>
                  <a:srgbClr val="FFFFFF"/>
                </a:highlight>
                <a:latin typeface="Tenorite"/>
              </a:rPr>
            </a:br>
            <a:r>
              <a:rPr lang="en-IN" b="1" dirty="0">
                <a:highlight>
                  <a:srgbClr val="FFFFFF"/>
                </a:highlight>
                <a:latin typeface="Tenorite"/>
              </a:rPr>
              <a:t>Data Sources -  Many other Data Sources can be added (CRM, Sales, customer feedback)</a:t>
            </a:r>
          </a:p>
          <a:p>
            <a:endParaRPr lang="en-IN" b="1" dirty="0">
              <a:highlight>
                <a:srgbClr val="FFFFFF"/>
              </a:highlight>
              <a:latin typeface="Tenorite"/>
            </a:endParaRPr>
          </a:p>
          <a:p>
            <a:endParaRPr lang="en-IN" b="1" dirty="0">
              <a:highlight>
                <a:srgbClr val="FFFFFF"/>
              </a:highlight>
              <a:latin typeface="Tenorite"/>
            </a:endParaRPr>
          </a:p>
          <a:p>
            <a:br>
              <a:rPr lang="en-IN" b="1" dirty="0">
                <a:highlight>
                  <a:srgbClr val="FFFFFF"/>
                </a:highlight>
                <a:latin typeface="Tenorite"/>
              </a:rPr>
            </a:br>
            <a:endParaRPr lang="en-IN" b="1">
              <a:highlight>
                <a:srgbClr val="FFFFFF"/>
              </a:highlight>
              <a:latin typeface="Tenorit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22144-4518-A739-1496-A96B3B65CF0F}"/>
              </a:ext>
            </a:extLst>
          </p:cNvPr>
          <p:cNvSpPr txBox="1"/>
          <p:nvPr/>
        </p:nvSpPr>
        <p:spPr>
          <a:xfrm>
            <a:off x="226259" y="117324"/>
            <a:ext cx="232601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</a:rPr>
              <a:t>ODYSSEY </a:t>
            </a:r>
            <a:r>
              <a:rPr lang="en-US" sz="1200" b="1" dirty="0">
                <a:solidFill>
                  <a:schemeClr val="bg1">
                    <a:lumMod val="76000"/>
                  </a:schemeClr>
                </a:solidFill>
              </a:rPr>
              <a:t>– The Data Explorer</a:t>
            </a:r>
          </a:p>
        </p:txBody>
      </p:sp>
    </p:spTree>
    <p:extLst>
      <p:ext uri="{BB962C8B-B14F-4D97-AF65-F5344CB8AC3E}">
        <p14:creationId xmlns:p14="http://schemas.microsoft.com/office/powerpoint/2010/main" val="3213059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458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Tenorite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Dilip A</cp:lastModifiedBy>
  <cp:revision>480</cp:revision>
  <dcterms:created xsi:type="dcterms:W3CDTF">2026-01-29T14:46:06Z</dcterms:created>
  <dcterms:modified xsi:type="dcterms:W3CDTF">2026-02-07T16:41:07Z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8c544ca-bb84-4280-906e-934547e1d30c_Enabled">
    <vt:lpwstr>true</vt:lpwstr>
  </property>
  <property fmtid="{D5CDD505-2E9C-101B-9397-08002B2CF9AE}" pid="3" name="MSIP_Label_a8c544ca-bb84-4280-906e-934547e1d30c_SetDate">
    <vt:lpwstr>2026-01-29T14:46:43Z</vt:lpwstr>
  </property>
  <property fmtid="{D5CDD505-2E9C-101B-9397-08002B2CF9AE}" pid="4" name="MSIP_Label_a8c544ca-bb84-4280-906e-934547e1d30c_Method">
    <vt:lpwstr>Privileged</vt:lpwstr>
  </property>
  <property fmtid="{D5CDD505-2E9C-101B-9397-08002B2CF9AE}" pid="5" name="MSIP_Label_a8c544ca-bb84-4280-906e-934547e1d30c_Name">
    <vt:lpwstr>Internal - General Use</vt:lpwstr>
  </property>
  <property fmtid="{D5CDD505-2E9C-101B-9397-08002B2CF9AE}" pid="6" name="MSIP_Label_a8c544ca-bb84-4280-906e-934547e1d30c_SiteId">
    <vt:lpwstr>258ac4e4-146a-411e-9dc8-79a9e12fd6da</vt:lpwstr>
  </property>
  <property fmtid="{D5CDD505-2E9C-101B-9397-08002B2CF9AE}" pid="7" name="MSIP_Label_a8c544ca-bb84-4280-906e-934547e1d30c_ActionId">
    <vt:lpwstr>f5b58349-dcee-4764-b81f-a49bdf4624f4</vt:lpwstr>
  </property>
  <property fmtid="{D5CDD505-2E9C-101B-9397-08002B2CF9AE}" pid="8" name="MSIP_Label_a8c544ca-bb84-4280-906e-934547e1d30c_ContentBits">
    <vt:lpwstr>2</vt:lpwstr>
  </property>
  <property fmtid="{D5CDD505-2E9C-101B-9397-08002B2CF9AE}" pid="9" name="MSIP_Label_a8c544ca-bb84-4280-906e-934547e1d30c_Tag">
    <vt:lpwstr>10, 0, 1, 2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- General Use</vt:lpwstr>
  </property>
</Properties>
</file>